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60" r:id="rId8"/>
    <p:sldId id="261" r:id="rId9"/>
    <p:sldId id="259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94111C-F1EF-47B8-955A-F69480577FE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919F1BE-A18C-4D8D-B116-B7AA11B20F56}">
      <dgm:prSet/>
      <dgm:spPr/>
      <dgm:t>
        <a:bodyPr/>
        <a:lstStyle/>
        <a:p>
          <a:r>
            <a:rPr lang="en-US" b="0" i="0"/>
            <a:t>AI poate aduce un impact real în detecția timpurie a melanomului.</a:t>
          </a:r>
          <a:br>
            <a:rPr lang="en-US"/>
          </a:br>
          <a:r>
            <a:rPr lang="en-US" b="0" i="0"/>
            <a:t>Sistemul propus integrează analiza imaginii și rețele neuronale într-o platformă intuitivă (LabVIEW).</a:t>
          </a:r>
          <a:endParaRPr lang="en-US"/>
        </a:p>
      </dgm:t>
    </dgm:pt>
    <dgm:pt modelId="{A0A53A26-23BD-428F-8CD4-838C3F5E0F90}" type="parTrans" cxnId="{DCE93FC6-A376-4D2E-9FF8-52D7858D1B21}">
      <dgm:prSet/>
      <dgm:spPr/>
      <dgm:t>
        <a:bodyPr/>
        <a:lstStyle/>
        <a:p>
          <a:endParaRPr lang="en-US"/>
        </a:p>
      </dgm:t>
    </dgm:pt>
    <dgm:pt modelId="{926C5588-8B82-4622-8F6C-82850C6C104F}" type="sibTrans" cxnId="{DCE93FC6-A376-4D2E-9FF8-52D7858D1B21}">
      <dgm:prSet/>
      <dgm:spPr/>
      <dgm:t>
        <a:bodyPr/>
        <a:lstStyle/>
        <a:p>
          <a:endParaRPr lang="en-US"/>
        </a:p>
      </dgm:t>
    </dgm:pt>
    <dgm:pt modelId="{095BF564-9B8C-46BE-BF3A-69D109E2F69B}">
      <dgm:prSet/>
      <dgm:spPr/>
      <dgm:t>
        <a:bodyPr/>
        <a:lstStyle/>
        <a:p>
          <a:r>
            <a:rPr lang="en-US" b="0" i="0"/>
            <a:t>Poate deveni un instrument educațional și clinic pentru dermatologi și studenți.</a:t>
          </a:r>
          <a:endParaRPr lang="en-US"/>
        </a:p>
      </dgm:t>
    </dgm:pt>
    <dgm:pt modelId="{BD12A046-A550-4937-8862-8D107494AC16}" type="parTrans" cxnId="{C1BC3FC5-93A4-4499-8D55-71E8749BEC04}">
      <dgm:prSet/>
      <dgm:spPr/>
      <dgm:t>
        <a:bodyPr/>
        <a:lstStyle/>
        <a:p>
          <a:endParaRPr lang="en-US"/>
        </a:p>
      </dgm:t>
    </dgm:pt>
    <dgm:pt modelId="{90C7EAE9-7917-462C-AF42-91C2E8BD9209}" type="sibTrans" cxnId="{C1BC3FC5-93A4-4499-8D55-71E8749BEC04}">
      <dgm:prSet/>
      <dgm:spPr/>
      <dgm:t>
        <a:bodyPr/>
        <a:lstStyle/>
        <a:p>
          <a:endParaRPr lang="en-US"/>
        </a:p>
      </dgm:t>
    </dgm:pt>
    <dgm:pt modelId="{CF69BBCB-A001-4421-AF1A-7433FFB4FF35}" type="pres">
      <dgm:prSet presAssocID="{C094111C-F1EF-47B8-955A-F69480577FE4}" presName="root" presStyleCnt="0">
        <dgm:presLayoutVars>
          <dgm:dir/>
          <dgm:resizeHandles val="exact"/>
        </dgm:presLayoutVars>
      </dgm:prSet>
      <dgm:spPr/>
    </dgm:pt>
    <dgm:pt modelId="{7BED5E15-15CE-4D41-A52A-DD5C0F2EECA1}" type="pres">
      <dgm:prSet presAssocID="{6919F1BE-A18C-4D8D-B116-B7AA11B20F56}" presName="compNode" presStyleCnt="0"/>
      <dgm:spPr/>
    </dgm:pt>
    <dgm:pt modelId="{9B66040A-81D2-464E-AEC6-3B620E3EBE87}" type="pres">
      <dgm:prSet presAssocID="{6919F1BE-A18C-4D8D-B116-B7AA11B20F5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06A1189-3164-446D-8FF7-0048D9A849CC}" type="pres">
      <dgm:prSet presAssocID="{6919F1BE-A18C-4D8D-B116-B7AA11B20F56}" presName="spaceRect" presStyleCnt="0"/>
      <dgm:spPr/>
    </dgm:pt>
    <dgm:pt modelId="{A2180C4B-BB32-4265-9BD5-D44A00327F77}" type="pres">
      <dgm:prSet presAssocID="{6919F1BE-A18C-4D8D-B116-B7AA11B20F56}" presName="textRect" presStyleLbl="revTx" presStyleIdx="0" presStyleCnt="2">
        <dgm:presLayoutVars>
          <dgm:chMax val="1"/>
          <dgm:chPref val="1"/>
        </dgm:presLayoutVars>
      </dgm:prSet>
      <dgm:spPr/>
    </dgm:pt>
    <dgm:pt modelId="{8CE5D69E-873A-4FB2-AD6E-B8DC06B3A7FF}" type="pres">
      <dgm:prSet presAssocID="{926C5588-8B82-4622-8F6C-82850C6C104F}" presName="sibTrans" presStyleCnt="0"/>
      <dgm:spPr/>
    </dgm:pt>
    <dgm:pt modelId="{B09A5BD9-C551-4A83-9057-97C2A379B60F}" type="pres">
      <dgm:prSet presAssocID="{095BF564-9B8C-46BE-BF3A-69D109E2F69B}" presName="compNode" presStyleCnt="0"/>
      <dgm:spPr/>
    </dgm:pt>
    <dgm:pt modelId="{3C095E7E-ACE0-4D94-9720-E490233D5590}" type="pres">
      <dgm:prSet presAssocID="{095BF564-9B8C-46BE-BF3A-69D109E2F69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96C762A7-86DB-4C02-9845-A9D46BDB9EDE}" type="pres">
      <dgm:prSet presAssocID="{095BF564-9B8C-46BE-BF3A-69D109E2F69B}" presName="spaceRect" presStyleCnt="0"/>
      <dgm:spPr/>
    </dgm:pt>
    <dgm:pt modelId="{A470C77B-F2A5-4AF1-8755-3BCFA265F8F6}" type="pres">
      <dgm:prSet presAssocID="{095BF564-9B8C-46BE-BF3A-69D109E2F69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F99761D-FF9A-4ED5-A742-D9909633579A}" type="presOf" srcId="{6919F1BE-A18C-4D8D-B116-B7AA11B20F56}" destId="{A2180C4B-BB32-4265-9BD5-D44A00327F77}" srcOrd="0" destOrd="0" presId="urn:microsoft.com/office/officeart/2018/2/layout/IconLabelList"/>
    <dgm:cxn modelId="{00AB5A65-1739-495C-BC8C-3C11B210F3A9}" type="presOf" srcId="{C094111C-F1EF-47B8-955A-F69480577FE4}" destId="{CF69BBCB-A001-4421-AF1A-7433FFB4FF35}" srcOrd="0" destOrd="0" presId="urn:microsoft.com/office/officeart/2018/2/layout/IconLabelList"/>
    <dgm:cxn modelId="{B34117B9-4557-4282-A69B-D4CA227A2C26}" type="presOf" srcId="{095BF564-9B8C-46BE-BF3A-69D109E2F69B}" destId="{A470C77B-F2A5-4AF1-8755-3BCFA265F8F6}" srcOrd="0" destOrd="0" presId="urn:microsoft.com/office/officeart/2018/2/layout/IconLabelList"/>
    <dgm:cxn modelId="{C1BC3FC5-93A4-4499-8D55-71E8749BEC04}" srcId="{C094111C-F1EF-47B8-955A-F69480577FE4}" destId="{095BF564-9B8C-46BE-BF3A-69D109E2F69B}" srcOrd="1" destOrd="0" parTransId="{BD12A046-A550-4937-8862-8D107494AC16}" sibTransId="{90C7EAE9-7917-462C-AF42-91C2E8BD9209}"/>
    <dgm:cxn modelId="{DCE93FC6-A376-4D2E-9FF8-52D7858D1B21}" srcId="{C094111C-F1EF-47B8-955A-F69480577FE4}" destId="{6919F1BE-A18C-4D8D-B116-B7AA11B20F56}" srcOrd="0" destOrd="0" parTransId="{A0A53A26-23BD-428F-8CD4-838C3F5E0F90}" sibTransId="{926C5588-8B82-4622-8F6C-82850C6C104F}"/>
    <dgm:cxn modelId="{A4A30D10-C75E-4444-A825-20E3440B73E5}" type="presParOf" srcId="{CF69BBCB-A001-4421-AF1A-7433FFB4FF35}" destId="{7BED5E15-15CE-4D41-A52A-DD5C0F2EECA1}" srcOrd="0" destOrd="0" presId="urn:microsoft.com/office/officeart/2018/2/layout/IconLabelList"/>
    <dgm:cxn modelId="{089B5749-431D-49CA-B569-832306A42589}" type="presParOf" srcId="{7BED5E15-15CE-4D41-A52A-DD5C0F2EECA1}" destId="{9B66040A-81D2-464E-AEC6-3B620E3EBE87}" srcOrd="0" destOrd="0" presId="urn:microsoft.com/office/officeart/2018/2/layout/IconLabelList"/>
    <dgm:cxn modelId="{8A8D8D7D-103C-4371-B761-5D9880CE95A9}" type="presParOf" srcId="{7BED5E15-15CE-4D41-A52A-DD5C0F2EECA1}" destId="{706A1189-3164-446D-8FF7-0048D9A849CC}" srcOrd="1" destOrd="0" presId="urn:microsoft.com/office/officeart/2018/2/layout/IconLabelList"/>
    <dgm:cxn modelId="{9E0A485F-AAA2-4D7E-8458-90E092FE7584}" type="presParOf" srcId="{7BED5E15-15CE-4D41-A52A-DD5C0F2EECA1}" destId="{A2180C4B-BB32-4265-9BD5-D44A00327F77}" srcOrd="2" destOrd="0" presId="urn:microsoft.com/office/officeart/2018/2/layout/IconLabelList"/>
    <dgm:cxn modelId="{8EECCB87-A04F-4EB6-8EC0-A7321E89FDF2}" type="presParOf" srcId="{CF69BBCB-A001-4421-AF1A-7433FFB4FF35}" destId="{8CE5D69E-873A-4FB2-AD6E-B8DC06B3A7FF}" srcOrd="1" destOrd="0" presId="urn:microsoft.com/office/officeart/2018/2/layout/IconLabelList"/>
    <dgm:cxn modelId="{94690677-0100-494F-9CA7-D9B2D801DAB6}" type="presParOf" srcId="{CF69BBCB-A001-4421-AF1A-7433FFB4FF35}" destId="{B09A5BD9-C551-4A83-9057-97C2A379B60F}" srcOrd="2" destOrd="0" presId="urn:microsoft.com/office/officeart/2018/2/layout/IconLabelList"/>
    <dgm:cxn modelId="{B100F916-108B-480F-AEE8-9E8091BA67E1}" type="presParOf" srcId="{B09A5BD9-C551-4A83-9057-97C2A379B60F}" destId="{3C095E7E-ACE0-4D94-9720-E490233D5590}" srcOrd="0" destOrd="0" presId="urn:microsoft.com/office/officeart/2018/2/layout/IconLabelList"/>
    <dgm:cxn modelId="{CD0DCBE0-3A8C-43CA-9719-FDB723E80A58}" type="presParOf" srcId="{B09A5BD9-C551-4A83-9057-97C2A379B60F}" destId="{96C762A7-86DB-4C02-9845-A9D46BDB9EDE}" srcOrd="1" destOrd="0" presId="urn:microsoft.com/office/officeart/2018/2/layout/IconLabelList"/>
    <dgm:cxn modelId="{EF074EBB-AAA6-4691-B6A4-CD0534AA052F}" type="presParOf" srcId="{B09A5BD9-C551-4A83-9057-97C2A379B60F}" destId="{A470C77B-F2A5-4AF1-8755-3BCFA265F8F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66040A-81D2-464E-AEC6-3B620E3EBE87}">
      <dsp:nvSpPr>
        <dsp:cNvPr id="0" name=""/>
        <dsp:cNvSpPr/>
      </dsp:nvSpPr>
      <dsp:spPr>
        <a:xfrm>
          <a:off x="1606068" y="599960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80C4B-BB32-4265-9BD5-D44A00327F77}">
      <dsp:nvSpPr>
        <dsp:cNvPr id="0" name=""/>
        <dsp:cNvSpPr/>
      </dsp:nvSpPr>
      <dsp:spPr>
        <a:xfrm>
          <a:off x="418068" y="301429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AI poate aduce un impact real în detecția timpurie a melanomului.</a:t>
          </a:r>
          <a:br>
            <a:rPr lang="en-US" sz="1200" kern="1200"/>
          </a:br>
          <a:r>
            <a:rPr lang="en-US" sz="1200" b="0" i="0" kern="1200"/>
            <a:t>Sistemul propus integrează analiza imaginii și rețele neuronale într-o platformă intuitivă (LabVIEW).</a:t>
          </a:r>
          <a:endParaRPr lang="en-US" sz="1200" kern="1200"/>
        </a:p>
      </dsp:txBody>
      <dsp:txXfrm>
        <a:off x="418068" y="3014295"/>
        <a:ext cx="4320000" cy="720000"/>
      </dsp:txXfrm>
    </dsp:sp>
    <dsp:sp modelId="{3C095E7E-ACE0-4D94-9720-E490233D5590}">
      <dsp:nvSpPr>
        <dsp:cNvPr id="0" name=""/>
        <dsp:cNvSpPr/>
      </dsp:nvSpPr>
      <dsp:spPr>
        <a:xfrm>
          <a:off x="6682068" y="599960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70C77B-F2A5-4AF1-8755-3BCFA265F8F6}">
      <dsp:nvSpPr>
        <dsp:cNvPr id="0" name=""/>
        <dsp:cNvSpPr/>
      </dsp:nvSpPr>
      <dsp:spPr>
        <a:xfrm>
          <a:off x="5494068" y="301429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Poate deveni un instrument educațional și clinic pentru dermatologi și studenți.</a:t>
          </a:r>
          <a:endParaRPr lang="en-US" sz="1200" kern="1200"/>
        </a:p>
      </dsp:txBody>
      <dsp:txXfrm>
        <a:off x="5494068" y="3014295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FB9AF-16A8-470D-84C8-935A6B92B05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8AE81-EEA7-417B-A205-60888EB83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69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8AE81-EEA7-417B-A205-60888EB83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46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912A-31EE-A507-84A1-EAE53FB38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FADD2-099F-8B9E-2B3B-866590C3B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A1D39-BFF5-D986-B415-06799AE8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7EED-F1FA-472F-A285-003C1EC231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35F2F-C145-C84B-369E-0A7D5CE0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BD231-39F7-9590-62D4-7A9287240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88FE-7880-47D3-9AEC-6396AA3B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80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10947-DF7E-EBA7-01B0-5E72F5A17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D4BC3-2CF7-7C2B-AD87-5EB4DC06C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57B82-E73D-E8FE-FF4F-4C47C41B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7EED-F1FA-472F-A285-003C1EC231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56A94-F4CD-452E-AAF3-CE66D5437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226A6-5FAF-27E6-1214-7EA2CF76D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88FE-7880-47D3-9AEC-6396AA3B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81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FB3F3-FC95-9DBB-B771-6EA7E2DEA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3CADD-3E52-ABFC-822E-E424D7C3C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615A0-B702-8D66-0B51-7AB6037E9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7EED-F1FA-472F-A285-003C1EC231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D6EF5-9A7A-C39F-AEB0-2D14C0F34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6898B-0B22-7ABE-6EC8-1298188C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88FE-7880-47D3-9AEC-6396AA3B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31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CE682-5560-A147-EC79-F4D0599F0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4A791-6B17-F35E-9719-12C8E2ED0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A8937-7EB6-74D6-08F8-8776B11A9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10DF2-6212-53EC-DA7F-F7CDE1629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7EED-F1FA-472F-A285-003C1EC231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095C8-29BE-6E19-2A65-A4D3BEBDF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17CF3-6A4D-4DC7-8E39-97B2724AA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88FE-7880-47D3-9AEC-6396AA3B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9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BFCF6-9D94-8E27-D878-4D56390D1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813DC-74F0-2675-FD6D-9268A6FE2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3D73F-81DB-E685-C8AC-CE3EDAEBF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15B472-DE62-DA53-72C2-8CA37D59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CC42A5-E4B6-D5B6-417C-0852EA2D8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DE72EE-D3E8-3510-4A03-AF155639B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7EED-F1FA-472F-A285-003C1EC231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3B2594-61FD-5189-C720-F332D41E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27F195-3E5B-8200-A620-18B607A12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88FE-7880-47D3-9AEC-6396AA3B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3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DA7A-A1E4-02C2-B926-168EA4B0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005CC1-E02E-5E29-C577-53FF94B5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7EED-F1FA-472F-A285-003C1EC231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A8C5F6-AA5E-20E0-3A3A-0C1F1576C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23FB50-C42A-ADF2-0478-06F6C9BA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88FE-7880-47D3-9AEC-6396AA3B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14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C0393E-B5A5-A7F3-47FE-D5F725EA9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7EED-F1FA-472F-A285-003C1EC231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FB5336-32F6-F48E-85D9-F5C50AAB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B3FD7-2AAC-470A-A0F7-C65C07468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88FE-7880-47D3-9AEC-6396AA3B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63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DF2DC-519D-2AD1-650A-27AE244BB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AFA3A-178D-4E5F-89D6-94A0F6337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E07DD-1DFC-9BDB-6C60-A4045284A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C1258-E66F-8337-2839-7D8D25EC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7EED-F1FA-472F-A285-003C1EC231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B13F7-11A1-D093-7DF2-9C239F547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2E809-E047-8B6E-607D-1F59F9D6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88FE-7880-47D3-9AEC-6396AA3B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74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4A3F6-18CE-C967-5B4B-925E0C05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321C18-DC45-DFFC-3960-E3C199A462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B0BE2-BF19-F05A-83E9-9E6CB5CCB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F012B-4EE5-84EE-3286-C6E4B767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7EED-F1FA-472F-A285-003C1EC231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55F3A-E968-9C1F-8889-6421AF701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6A2D7-EF6A-6F4A-0BED-108D6EDB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88FE-7880-47D3-9AEC-6396AA3B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69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9F00-40F7-005C-B227-4CC83553B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92A97-3ED2-1797-6268-7E86154E8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5066F-2F81-D64F-3F6E-B60D0731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7EED-F1FA-472F-A285-003C1EC231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9D19C-20EF-73DC-9817-BD2AE5F82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F7695-CC10-7946-3229-46B2580C6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88FE-7880-47D3-9AEC-6396AA3B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39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03855D-06C1-FB97-003E-827477A86B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96EC5-BF64-29FA-5A39-6A5EC30B1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214C-4BDC-30DD-6713-93C35F2EE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7EED-F1FA-472F-A285-003C1EC231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4CCD2-1A20-ECB1-7299-2F4FE45DE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96DF4-155B-173C-18FF-19A17C9C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B88FE-7880-47D3-9AEC-6396AA3B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60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3407B9-5974-0E93-2A7B-5557FFC67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63182-00D9-4C9E-6ABD-FE26F156E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39646-680C-4118-F29E-ED05EA42C2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F7EED-F1FA-472F-A285-003C1EC2315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16E14-26B8-87E8-6D83-0B58F02ACE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1F846-70CA-528A-82BC-7878754CC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B88FE-7880-47D3-9AEC-6396AA3B5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7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072-6694/17/1/28" TargetMode="External"/><Relationship Id="rId2" Type="http://schemas.openxmlformats.org/officeDocument/2006/relationships/hyperlink" Target="https://www.nature.com/articles/nature21056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hallenge.isic-archive.com/data/" TargetMode="External"/><Relationship Id="rId4" Type="http://schemas.openxmlformats.org/officeDocument/2006/relationships/hyperlink" Target="https://arxiv.org/abs/1605.01397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hallenge.isic-archive.com/data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6CBE3-58B8-209E-6169-2D3108DE3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 err="1"/>
              <a:t>Detectarea</a:t>
            </a:r>
            <a:r>
              <a:rPr lang="en-US" sz="4800" dirty="0"/>
              <a:t> </a:t>
            </a:r>
            <a:r>
              <a:rPr lang="en-US" sz="4800" dirty="0" err="1"/>
              <a:t>melanomului</a:t>
            </a:r>
            <a:r>
              <a:rPr lang="en-US" sz="4800" dirty="0"/>
              <a:t> din </a:t>
            </a:r>
            <a:r>
              <a:rPr lang="en-US" sz="4800" dirty="0" err="1"/>
              <a:t>imagini</a:t>
            </a:r>
            <a:r>
              <a:rPr lang="en-US" sz="4800" dirty="0"/>
              <a:t> </a:t>
            </a:r>
            <a:r>
              <a:rPr lang="en-US" sz="4800" dirty="0" err="1"/>
              <a:t>dermatologice</a:t>
            </a:r>
            <a:r>
              <a:rPr lang="en-US" sz="4800" dirty="0"/>
              <a:t> </a:t>
            </a:r>
            <a:r>
              <a:rPr lang="en-US" sz="4800" dirty="0" err="1"/>
              <a:t>utilizand</a:t>
            </a:r>
            <a:r>
              <a:rPr lang="en-US" sz="4800" dirty="0"/>
              <a:t> </a:t>
            </a:r>
            <a:r>
              <a:rPr lang="en-US" sz="4800" dirty="0" err="1"/>
              <a:t>Retele</a:t>
            </a:r>
            <a:r>
              <a:rPr lang="en-US" sz="4800" dirty="0"/>
              <a:t> </a:t>
            </a:r>
            <a:r>
              <a:rPr lang="en-US" sz="4800" dirty="0" err="1"/>
              <a:t>Neuronale</a:t>
            </a:r>
            <a:r>
              <a:rPr lang="en-US" sz="4800" dirty="0"/>
              <a:t> </a:t>
            </a:r>
            <a:r>
              <a:rPr lang="en-US" sz="4800" dirty="0" err="1"/>
              <a:t>Convolutionale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75FC-104E-8EA4-8D66-40A4F6FE6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55962"/>
            <a:ext cx="9144000" cy="849694"/>
          </a:xfrm>
        </p:spPr>
        <p:txBody>
          <a:bodyPr>
            <a:normAutofit/>
          </a:bodyPr>
          <a:lstStyle/>
          <a:p>
            <a:r>
              <a:rPr lang="en-US" dirty="0" err="1"/>
              <a:t>Sistem</a:t>
            </a:r>
            <a:r>
              <a:rPr lang="en-US" dirty="0"/>
              <a:t> cu </a:t>
            </a:r>
            <a:r>
              <a:rPr lang="en-US" dirty="0" err="1"/>
              <a:t>Inteligenta</a:t>
            </a:r>
            <a:r>
              <a:rPr lang="en-US" dirty="0"/>
              <a:t> </a:t>
            </a:r>
            <a:r>
              <a:rPr lang="en-US" dirty="0" err="1"/>
              <a:t>Artificiala</a:t>
            </a:r>
            <a:r>
              <a:rPr lang="en-US" dirty="0"/>
              <a:t> </a:t>
            </a:r>
            <a:r>
              <a:rPr lang="en-US" dirty="0" err="1"/>
              <a:t>bazat</a:t>
            </a:r>
            <a:r>
              <a:rPr lang="en-US" dirty="0"/>
              <a:t> pe </a:t>
            </a:r>
            <a:r>
              <a:rPr lang="en-US" dirty="0" err="1"/>
              <a:t>Retele</a:t>
            </a:r>
            <a:r>
              <a:rPr lang="en-US" dirty="0"/>
              <a:t> </a:t>
            </a:r>
            <a:r>
              <a:rPr lang="en-US" dirty="0" err="1"/>
              <a:t>Neuronale</a:t>
            </a:r>
            <a:r>
              <a:rPr lang="en-US" dirty="0"/>
              <a:t> </a:t>
            </a:r>
            <a:r>
              <a:rPr lang="en-US" dirty="0" err="1"/>
              <a:t>Convolutionale</a:t>
            </a:r>
            <a:r>
              <a:rPr lang="en-US" dirty="0"/>
              <a:t>(CNN)</a:t>
            </a:r>
          </a:p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7AFD38-B761-8EA5-B775-DE38B9EF8D50}"/>
              </a:ext>
            </a:extLst>
          </p:cNvPr>
          <p:cNvSpPr txBox="1"/>
          <p:nvPr/>
        </p:nvSpPr>
        <p:spPr>
          <a:xfrm>
            <a:off x="1524000" y="4288536"/>
            <a:ext cx="369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Student: Dumitru Claudia-Stefania</a:t>
            </a:r>
          </a:p>
          <a:p>
            <a:r>
              <a:rPr lang="en-US" dirty="0"/>
              <a:t>Curs: </a:t>
            </a:r>
            <a:r>
              <a:rPr lang="en-US" dirty="0" err="1"/>
              <a:t>Retele</a:t>
            </a:r>
            <a:r>
              <a:rPr lang="en-US" dirty="0"/>
              <a:t> </a:t>
            </a:r>
            <a:r>
              <a:rPr lang="en-US" dirty="0" err="1"/>
              <a:t>neuronale</a:t>
            </a:r>
            <a:r>
              <a:rPr lang="en-US" dirty="0"/>
              <a:t> – FIIR UPB</a:t>
            </a:r>
          </a:p>
          <a:p>
            <a:r>
              <a:rPr lang="en-US" dirty="0"/>
              <a:t>Grupa: 631 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A1748-5E4F-E020-78AA-6A81902C174D}"/>
              </a:ext>
            </a:extLst>
          </p:cNvPr>
          <p:cNvSpPr txBox="1"/>
          <p:nvPr/>
        </p:nvSpPr>
        <p:spPr>
          <a:xfrm>
            <a:off x="6096000" y="4288536"/>
            <a:ext cx="52395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Profesor</a:t>
            </a:r>
            <a:r>
              <a:rPr lang="en-US" dirty="0"/>
              <a:t> </a:t>
            </a:r>
            <a:r>
              <a:rPr lang="en-US" dirty="0" err="1"/>
              <a:t>Coordonator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Conf.dr.ing</a:t>
            </a:r>
            <a:r>
              <a:rPr lang="en-US" dirty="0"/>
              <a:t>. Bogdan Abaza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Gabriel Sima </a:t>
            </a:r>
          </a:p>
          <a:p>
            <a:r>
              <a:rPr lang="en-US" dirty="0"/>
              <a:t>An: 2025</a:t>
            </a:r>
          </a:p>
        </p:txBody>
      </p:sp>
    </p:spTree>
    <p:extLst>
      <p:ext uri="{BB962C8B-B14F-4D97-AF65-F5344CB8AC3E}">
        <p14:creationId xmlns:p14="http://schemas.microsoft.com/office/powerpoint/2010/main" val="2266598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A80F16-9016-CE8F-4D44-F65B7D263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Descrierea necesitatii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80EDC-7FD5-7DE0-30BA-3260CAA81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882315"/>
            <a:ext cx="5254754" cy="52946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Context general</a:t>
            </a:r>
            <a:br>
              <a:rPr lang="en-US" sz="2000"/>
            </a:br>
            <a:r>
              <a:rPr lang="en-US" sz="2000" i="1"/>
              <a:t>Melanomul</a:t>
            </a:r>
            <a:r>
              <a:rPr lang="en-US" sz="2000"/>
              <a:t> este cea mai agresivă formă de cancer de piele, responsabilă de ~75% dintre decesele cauzate de cancere cutanate.</a:t>
            </a:r>
            <a:br>
              <a:rPr lang="en-US" sz="2000"/>
            </a:br>
            <a:r>
              <a:rPr lang="en-US" sz="2000"/>
              <a:t>Diagnosticarea timpurie crește șansele de supraviețuire cu peste 90%.</a:t>
            </a:r>
            <a:br>
              <a:rPr lang="en-US" sz="2000"/>
            </a:br>
            <a:r>
              <a:rPr lang="en-US" sz="2000"/>
              <a:t>Examinarea vizuală este subiectivă → poate fi îmbunătățită prin algoritmi AI.</a:t>
            </a:r>
            <a:br>
              <a:rPr lang="en-US" sz="2000"/>
            </a:br>
            <a:r>
              <a:rPr lang="en-US" sz="2000" b="1"/>
              <a:t>Nevoia industrială</a:t>
            </a:r>
            <a:br>
              <a:rPr lang="en-US" sz="2000"/>
            </a:br>
            <a:r>
              <a:rPr lang="en-US" sz="2000" i="1"/>
              <a:t>Domeniu industrial de interes (DII): </a:t>
            </a:r>
            <a:r>
              <a:rPr lang="en-US" sz="2000"/>
              <a:t>MEDICAL – Dermatologie digitală &amp; diagnostic asistat.</a:t>
            </a:r>
            <a:br>
              <a:rPr lang="en-US" sz="2000"/>
            </a:br>
            <a:r>
              <a:rPr lang="en-US" sz="2000" i="1"/>
              <a:t>Studiu de caz: </a:t>
            </a:r>
            <a:r>
              <a:rPr lang="en-US" sz="2000"/>
              <a:t>Sistem de diagnostic asistat pentru dermatologi, bazat pe imagini dermatoscopice.</a:t>
            </a:r>
            <a:br>
              <a:rPr lang="en-US" sz="2000"/>
            </a:br>
            <a:r>
              <a:rPr lang="en-US" sz="2000"/>
              <a:t>Sistemul AI (CNN) poate analiza rapid sute de imagini și identifica automat leziuni suspecte</a:t>
            </a:r>
          </a:p>
        </p:txBody>
      </p:sp>
    </p:spTree>
    <p:extLst>
      <p:ext uri="{BB962C8B-B14F-4D97-AF65-F5344CB8AC3E}">
        <p14:creationId xmlns:p14="http://schemas.microsoft.com/office/powerpoint/2010/main" val="1451262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7F331C-78A5-EAE6-3003-A0B4E4B93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Stadiul actual si tendinte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716D6-5B14-C0A6-15BC-7E7BD48C7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/>
              <a:t>Stadiul actual</a:t>
            </a:r>
            <a:br>
              <a:rPr lang="en-US" sz="2200"/>
            </a:br>
            <a:r>
              <a:rPr lang="en-US" sz="2200"/>
              <a:t>În prezent, analiza dermatoscopică se face </a:t>
            </a:r>
            <a:r>
              <a:rPr lang="en-US" sz="2200" i="1"/>
              <a:t>manual</a:t>
            </a:r>
            <a:r>
              <a:rPr lang="en-US" sz="2200"/>
              <a:t> de către dermatologi → timp mare, dependență de experiență.</a:t>
            </a:r>
            <a:br>
              <a:rPr lang="en-US" sz="2200"/>
            </a:br>
            <a:r>
              <a:rPr lang="en-US" sz="2200"/>
              <a:t>Există platforme ca ISIC Archive și DermEngine ce folosesc AI pentru suport diagnostic.</a:t>
            </a:r>
            <a:br>
              <a:rPr lang="en-US" sz="2200"/>
            </a:br>
            <a:r>
              <a:rPr lang="en-US" sz="2200" b="1"/>
              <a:t>Tendințe</a:t>
            </a:r>
            <a:br>
              <a:rPr lang="en-US" sz="2200"/>
            </a:br>
            <a:r>
              <a:rPr lang="en-US" sz="2200"/>
              <a:t>Creșterea utilizării rețelelor CNN (ResNet, DenseNet, EfficientNet) pentru clasificare.</a:t>
            </a:r>
            <a:br>
              <a:rPr lang="en-US" sz="2200"/>
            </a:br>
            <a:r>
              <a:rPr lang="en-US" sz="2200"/>
              <a:t>Integrarea AI în dispozitive portabile (camere dermatoscopice mobile).</a:t>
            </a:r>
            <a:br>
              <a:rPr lang="en-US" sz="2200"/>
            </a:br>
            <a:r>
              <a:rPr lang="en-US" sz="2200"/>
              <a:t>Telemedicină și screening automat în faze incipiente.</a:t>
            </a:r>
          </a:p>
        </p:txBody>
      </p:sp>
    </p:spTree>
    <p:extLst>
      <p:ext uri="{BB962C8B-B14F-4D97-AF65-F5344CB8AC3E}">
        <p14:creationId xmlns:p14="http://schemas.microsoft.com/office/powerpoint/2010/main" val="44933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B56A7-E416-DBF9-A928-EC25AB48B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Beneficii masurabile ale sistemului AI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A42ACC-1DAC-1DC1-BD7C-021E9507B5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0241369"/>
              </p:ext>
            </p:extLst>
          </p:nvPr>
        </p:nvGraphicFramePr>
        <p:xfrm>
          <a:off x="1007396" y="2228087"/>
          <a:ext cx="10177209" cy="394887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554239">
                  <a:extLst>
                    <a:ext uri="{9D8B030D-6E8A-4147-A177-3AD203B41FA5}">
                      <a16:colId xmlns:a16="http://schemas.microsoft.com/office/drawing/2014/main" val="109007138"/>
                    </a:ext>
                  </a:extLst>
                </a:gridCol>
                <a:gridCol w="3318841">
                  <a:extLst>
                    <a:ext uri="{9D8B030D-6E8A-4147-A177-3AD203B41FA5}">
                      <a16:colId xmlns:a16="http://schemas.microsoft.com/office/drawing/2014/main" val="4024736475"/>
                    </a:ext>
                  </a:extLst>
                </a:gridCol>
                <a:gridCol w="3304129">
                  <a:extLst>
                    <a:ext uri="{9D8B030D-6E8A-4147-A177-3AD203B41FA5}">
                      <a16:colId xmlns:a16="http://schemas.microsoft.com/office/drawing/2014/main" val="4039731243"/>
                    </a:ext>
                  </a:extLst>
                </a:gridCol>
              </a:tblGrid>
              <a:tr h="662661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Beneficiu</a:t>
                      </a:r>
                    </a:p>
                  </a:txBody>
                  <a:tcPr marL="249538" marR="187154" marT="124769" marB="1247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Descriere</a:t>
                      </a:r>
                    </a:p>
                  </a:txBody>
                  <a:tcPr marL="249538" marR="187154" marT="124769" marB="1247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Masura estimata</a:t>
                      </a:r>
                    </a:p>
                  </a:txBody>
                  <a:tcPr marL="249538" marR="187154" marT="124769" marB="1247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727063"/>
                  </a:ext>
                </a:extLst>
              </a:tr>
              <a:tr h="821554"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Cresterea acuratetei diagnosticului</a:t>
                      </a:r>
                    </a:p>
                  </a:txBody>
                  <a:tcPr marL="249538" marR="187154" marT="124769" marB="1247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AI poate atinge &gt;90% acuratete(nivel dermatolog)</a:t>
                      </a:r>
                    </a:p>
                  </a:txBody>
                  <a:tcPr marL="249538" marR="187154" marT="124769" marB="1247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+15-20% fata de evaluarea vizuala</a:t>
                      </a:r>
                    </a:p>
                  </a:txBody>
                  <a:tcPr marL="249538" marR="187154" marT="124769" marB="1247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482107"/>
                  </a:ext>
                </a:extLst>
              </a:tr>
              <a:tr h="821554"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Reducerea timpului de analiza</a:t>
                      </a:r>
                    </a:p>
                  </a:txBody>
                  <a:tcPr marL="249538" marR="187154" marT="124769" marB="1247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Clasificare automata in &lt;1s/imagine</a:t>
                      </a:r>
                    </a:p>
                  </a:txBody>
                  <a:tcPr marL="249538" marR="187154" marT="124769" marB="1247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-80% timp evaluare</a:t>
                      </a:r>
                    </a:p>
                  </a:txBody>
                  <a:tcPr marL="249538" marR="187154" marT="124769" marB="1247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239573"/>
                  </a:ext>
                </a:extLst>
              </a:tr>
              <a:tr h="821554"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Detectie timpurie</a:t>
                      </a:r>
                    </a:p>
                  </a:txBody>
                  <a:tcPr marL="249538" marR="187154" marT="124769" marB="1247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Identifica melanomul inainte de simptome vizibile</a:t>
                      </a:r>
                    </a:p>
                  </a:txBody>
                  <a:tcPr marL="249538" marR="187154" marT="124769" marB="1247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Creste rata de supravietuire</a:t>
                      </a:r>
                    </a:p>
                  </a:txBody>
                  <a:tcPr marL="249538" marR="187154" marT="124769" marB="1247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054038"/>
                  </a:ext>
                </a:extLst>
              </a:tr>
              <a:tr h="821554"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Scalabilitate</a:t>
                      </a:r>
                    </a:p>
                  </a:txBody>
                  <a:tcPr marL="249538" marR="187154" marT="124769" marB="1247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Analiza simultana a mii de imagini</a:t>
                      </a:r>
                    </a:p>
                  </a:txBody>
                  <a:tcPr marL="249538" marR="187154" marT="124769" marB="1247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Cost redus / pacient</a:t>
                      </a:r>
                    </a:p>
                  </a:txBody>
                  <a:tcPr marL="249538" marR="187154" marT="124769" marB="12476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953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438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CA8980-42DE-7FD1-EFBB-230B9404A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Surse relevante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CFA1D-DFC4-8BA8-4083-05901AB9D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600" b="0" i="0">
                <a:effectLst/>
                <a:latin typeface="-apple-system"/>
              </a:rPr>
              <a:t>1. </a:t>
            </a:r>
            <a:r>
              <a:rPr lang="en-US" sz="2600" b="0" i="0" err="1">
                <a:effectLst/>
                <a:latin typeface="-apple-system"/>
              </a:rPr>
              <a:t>Esteva</a:t>
            </a:r>
            <a:r>
              <a:rPr lang="en-US" sz="2600" b="0" i="0">
                <a:effectLst/>
                <a:latin typeface="-apple-system"/>
              </a:rPr>
              <a:t> et al. (Nature, 2017) – Dermatologist-level classification of skin cancer with deep neural networks.</a:t>
            </a:r>
            <a:br>
              <a:rPr lang="en-US" sz="2600"/>
            </a:br>
            <a:r>
              <a:rPr lang="en-US" sz="2600" b="0" i="0" u="none" strike="noStrike">
                <a:effectLst/>
                <a:latin typeface="-apple-system"/>
                <a:hlinkClick r:id="rId2"/>
              </a:rPr>
              <a:t>https://www.nature.com/articles/nature21056</a:t>
            </a:r>
            <a:br>
              <a:rPr lang="en-US" sz="2600"/>
            </a:br>
            <a:r>
              <a:rPr lang="en-US" sz="2600"/>
              <a:t>2. </a:t>
            </a:r>
            <a:r>
              <a:rPr lang="en-US" sz="2600" b="0" i="0" err="1">
                <a:effectLst/>
                <a:latin typeface="-apple-system"/>
              </a:rPr>
              <a:t>Kreouzi</a:t>
            </a:r>
            <a:r>
              <a:rPr lang="en-US" sz="2600" b="0" i="0">
                <a:effectLst/>
                <a:latin typeface="-apple-system"/>
              </a:rPr>
              <a:t> et al. (Cancers, 2024) – Deep Learning for Melanoma Detection.</a:t>
            </a:r>
            <a:br>
              <a:rPr lang="en-US" sz="2600"/>
            </a:br>
            <a:r>
              <a:rPr lang="en-US" sz="2600" b="0" i="0" u="none" strike="noStrike">
                <a:effectLst/>
                <a:latin typeface="-apple-system"/>
                <a:hlinkClick r:id="rId3"/>
              </a:rPr>
              <a:t>https://www.mdpi.com/2072-6694/17/1/28</a:t>
            </a:r>
            <a:br>
              <a:rPr lang="en-US" sz="2600"/>
            </a:br>
            <a:r>
              <a:rPr lang="en-US" sz="2600"/>
              <a:t>3. </a:t>
            </a:r>
            <a:r>
              <a:rPr lang="en-US" sz="2600" b="0" i="0">
                <a:effectLst/>
                <a:latin typeface="-apple-system"/>
              </a:rPr>
              <a:t>Gutman et al. (ISBI, 2016) – Skin Lesion Analysis toward Melanoma Detection: A Challenge.</a:t>
            </a:r>
            <a:br>
              <a:rPr lang="en-US" sz="2600"/>
            </a:br>
            <a:r>
              <a:rPr lang="en-US" sz="2600" b="0" i="0" u="none" strike="noStrike">
                <a:effectLst/>
                <a:latin typeface="-apple-system"/>
                <a:hlinkClick r:id="rId4"/>
              </a:rPr>
              <a:t>https://arxiv.org/abs/1605.01397</a:t>
            </a:r>
            <a:br>
              <a:rPr lang="en-US" sz="2600"/>
            </a:br>
            <a:r>
              <a:rPr lang="en-US" sz="2600" b="0" i="0">
                <a:effectLst/>
                <a:latin typeface="-apple-system"/>
              </a:rPr>
              <a:t>4. ISIC Dataset – International Skin Imaging Collaboration – open database</a:t>
            </a:r>
            <a:br>
              <a:rPr lang="en-US" sz="2600"/>
            </a:br>
            <a:r>
              <a:rPr lang="en-US" sz="2600" b="0" i="0" u="none" strike="noStrike">
                <a:effectLst/>
                <a:latin typeface="-apple-system"/>
                <a:hlinkClick r:id="rId5"/>
              </a:rPr>
              <a:t>https://challenge.isic-archive.com/data/</a:t>
            </a: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432335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E16A2-50AE-C734-77C9-00779036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Descrierea sistemului cu inteligenta artificiala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28D7F-D997-F83D-F855-C1D21C955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b="1"/>
              <a:t>Propunerea sistemului</a:t>
            </a:r>
            <a:br>
              <a:rPr lang="en-US" sz="2200"/>
            </a:br>
            <a:r>
              <a:rPr lang="en-US" sz="2200" i="1"/>
              <a:t>SIA: </a:t>
            </a:r>
            <a:r>
              <a:rPr lang="en-US" sz="2200"/>
              <a:t>Sistem AI pentru clasificarea leziunilor cutanate în benign / melanom.</a:t>
            </a:r>
            <a:br>
              <a:rPr lang="en-US" sz="2200"/>
            </a:br>
            <a:r>
              <a:rPr lang="en-US" sz="2200"/>
              <a:t>Bazat pe o rețea CNN 2D antrenată pe datasetul ISIC.</a:t>
            </a:r>
            <a:br>
              <a:rPr lang="en-US" sz="2200"/>
            </a:br>
            <a:r>
              <a:rPr lang="en-US" sz="2200"/>
              <a:t>Poate fi implementat în LabVIEW utilizând Deep Learning Toolkit (DeepLTK).</a:t>
            </a:r>
            <a:br>
              <a:rPr lang="en-US" sz="2200"/>
            </a:br>
            <a:r>
              <a:rPr lang="en-US" sz="2200" b="1"/>
              <a:t>Capabilități și roluri</a:t>
            </a:r>
            <a:br>
              <a:rPr lang="en-US" sz="2200"/>
            </a:br>
            <a:r>
              <a:rPr lang="en-US" sz="2200"/>
              <a:t>Achiziție imagine (de la cameră dermatoscopică sau fișier).</a:t>
            </a:r>
            <a:br>
              <a:rPr lang="en-US" sz="2200"/>
            </a:br>
            <a:r>
              <a:rPr lang="en-US" sz="2200"/>
              <a:t>Preprocesare: redimensionare, normalizare, augmentare.</a:t>
            </a:r>
            <a:br>
              <a:rPr lang="en-US" sz="2200"/>
            </a:br>
            <a:r>
              <a:rPr lang="en-US" sz="2200"/>
              <a:t>Clasificare CNN: ieșire = {Benign, Melanom} cu probabilitate.</a:t>
            </a:r>
            <a:br>
              <a:rPr lang="en-US" sz="2200"/>
            </a:br>
            <a:r>
              <a:rPr lang="en-US" sz="2200"/>
              <a:t>Interfață vizuală: afișează imaginea, verdictul și scorul.</a:t>
            </a:r>
            <a:br>
              <a:rPr lang="en-US" sz="2200"/>
            </a:br>
            <a:r>
              <a:rPr lang="en-US" sz="2200"/>
              <a:t>Stocare &amp; logare rezultate (CSV/TDMS).</a:t>
            </a:r>
          </a:p>
        </p:txBody>
      </p:sp>
    </p:spTree>
    <p:extLst>
      <p:ext uri="{BB962C8B-B14F-4D97-AF65-F5344CB8AC3E}">
        <p14:creationId xmlns:p14="http://schemas.microsoft.com/office/powerpoint/2010/main" val="2935214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B4CC77-2D88-284A-ABFC-67B3ED5F5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Arhitectura sistemului 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03EDB-B4EA-3CA7-3FEC-5FF26EC34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US" sz="2200" err="1"/>
              <a:t>Componente</a:t>
            </a:r>
            <a:r>
              <a:rPr lang="en-US" sz="2200"/>
              <a:t> software/hardware:</a:t>
            </a:r>
          </a:p>
          <a:p>
            <a:pPr marL="0" indent="0">
              <a:buNone/>
            </a:pPr>
            <a:r>
              <a:rPr lang="en-US" sz="2200" b="0" i="0">
                <a:effectLst/>
                <a:latin typeface="-apple-system"/>
              </a:rPr>
              <a:t>	Modul </a:t>
            </a:r>
            <a:r>
              <a:rPr lang="en-US" sz="2200" b="0" i="0" err="1">
                <a:effectLst/>
                <a:latin typeface="-apple-system"/>
              </a:rPr>
              <a:t>achiziție</a:t>
            </a:r>
            <a:r>
              <a:rPr lang="en-US" sz="2200" b="0" i="0">
                <a:effectLst/>
                <a:latin typeface="-apple-system"/>
              </a:rPr>
              <a:t> imagine – NI Vision Development Module / </a:t>
            </a:r>
            <a:r>
              <a:rPr lang="en-US" sz="2200" b="0" i="0" err="1">
                <a:effectLst/>
                <a:latin typeface="-apple-system"/>
              </a:rPr>
              <a:t>IMAQdx</a:t>
            </a:r>
            <a:br>
              <a:rPr lang="en-US" sz="2200"/>
            </a:br>
            <a:r>
              <a:rPr lang="en-US" sz="2200"/>
              <a:t>	</a:t>
            </a:r>
            <a:r>
              <a:rPr lang="en-US" sz="2200" b="0" i="0" err="1">
                <a:effectLst/>
                <a:latin typeface="-apple-system"/>
              </a:rPr>
              <a:t>Preprocesare</a:t>
            </a:r>
            <a:r>
              <a:rPr lang="en-US" sz="2200" b="0" i="0">
                <a:effectLst/>
                <a:latin typeface="-apple-system"/>
              </a:rPr>
              <a:t> imagine – </a:t>
            </a:r>
            <a:r>
              <a:rPr lang="en-US" sz="2200" b="0" i="0" err="1">
                <a:effectLst/>
                <a:latin typeface="-apple-system"/>
              </a:rPr>
              <a:t>filtrare</a:t>
            </a:r>
            <a:r>
              <a:rPr lang="en-US" sz="2200" b="0" i="0">
                <a:effectLst/>
                <a:latin typeface="-apple-system"/>
              </a:rPr>
              <a:t>, resize, grayscale</a:t>
            </a:r>
            <a:br>
              <a:rPr lang="en-US" sz="2200"/>
            </a:br>
            <a:r>
              <a:rPr lang="en-US" sz="2200"/>
              <a:t>	</a:t>
            </a:r>
            <a:r>
              <a:rPr lang="en-US" sz="2200" b="0" i="0">
                <a:effectLst/>
                <a:latin typeface="-apple-system"/>
              </a:rPr>
              <a:t>Model CNN – </a:t>
            </a:r>
            <a:r>
              <a:rPr lang="en-US" sz="2200" b="0" i="0" err="1">
                <a:effectLst/>
                <a:latin typeface="-apple-system"/>
              </a:rPr>
              <a:t>DeepLTK</a:t>
            </a:r>
            <a:r>
              <a:rPr lang="en-US" sz="2200" b="0" i="0">
                <a:effectLst/>
                <a:latin typeface="-apple-system"/>
              </a:rPr>
              <a:t> (LabVIEW) </a:t>
            </a:r>
            <a:r>
              <a:rPr lang="en-US" sz="2200" b="0" i="0" err="1">
                <a:effectLst/>
                <a:latin typeface="-apple-system"/>
              </a:rPr>
              <a:t>sau</a:t>
            </a:r>
            <a:r>
              <a:rPr lang="en-US" sz="2200" b="0" i="0">
                <a:effectLst/>
                <a:latin typeface="-apple-system"/>
              </a:rPr>
              <a:t> import ONNX (</a:t>
            </a:r>
            <a:r>
              <a:rPr lang="en-US" sz="2200" b="0" i="0" err="1">
                <a:effectLst/>
                <a:latin typeface="-apple-system"/>
              </a:rPr>
              <a:t>Keras</a:t>
            </a:r>
            <a:r>
              <a:rPr lang="en-US" sz="2200" b="0" i="0">
                <a:effectLst/>
                <a:latin typeface="-apple-system"/>
              </a:rPr>
              <a:t>, </a:t>
            </a:r>
            <a:r>
              <a:rPr lang="en-US" sz="2200" b="0" i="0" err="1">
                <a:effectLst/>
                <a:latin typeface="-apple-system"/>
              </a:rPr>
              <a:t>PyTorch</a:t>
            </a:r>
            <a:r>
              <a:rPr lang="en-US" sz="2200" b="0" i="0">
                <a:effectLst/>
                <a:latin typeface="-apple-system"/>
              </a:rPr>
              <a:t>)</a:t>
            </a:r>
            <a:br>
              <a:rPr lang="en-US" sz="2200"/>
            </a:br>
            <a:r>
              <a:rPr lang="en-US" sz="2200"/>
              <a:t>	</a:t>
            </a:r>
            <a:r>
              <a:rPr lang="en-US" sz="2200" b="0" i="0">
                <a:effectLst/>
                <a:latin typeface="-apple-system"/>
              </a:rPr>
              <a:t>UI de </a:t>
            </a:r>
            <a:r>
              <a:rPr lang="en-US" sz="2200" b="0" i="0" err="1">
                <a:effectLst/>
                <a:latin typeface="-apple-system"/>
              </a:rPr>
              <a:t>vizualizare</a:t>
            </a:r>
            <a:r>
              <a:rPr lang="en-US" sz="2200" b="0" i="0">
                <a:effectLst/>
                <a:latin typeface="-apple-system"/>
              </a:rPr>
              <a:t> – </a:t>
            </a:r>
            <a:r>
              <a:rPr lang="en-US" sz="2200" b="0" i="0" err="1">
                <a:effectLst/>
                <a:latin typeface="-apple-system"/>
              </a:rPr>
              <a:t>panou</a:t>
            </a:r>
            <a:r>
              <a:rPr lang="en-US" sz="2200" b="0" i="0">
                <a:effectLst/>
                <a:latin typeface="-apple-system"/>
              </a:rPr>
              <a:t> frontal LabVIEW</a:t>
            </a:r>
            <a:br>
              <a:rPr lang="en-US" sz="2200"/>
            </a:br>
            <a:r>
              <a:rPr lang="en-US" sz="2200"/>
              <a:t>	</a:t>
            </a:r>
            <a:r>
              <a:rPr lang="en-US" sz="2200" b="0" i="0" err="1">
                <a:effectLst/>
                <a:latin typeface="-apple-system"/>
              </a:rPr>
              <a:t>Stocare</a:t>
            </a:r>
            <a:r>
              <a:rPr lang="en-US" sz="2200" b="0" i="0">
                <a:effectLst/>
                <a:latin typeface="-apple-system"/>
              </a:rPr>
              <a:t> / </a:t>
            </a:r>
            <a:r>
              <a:rPr lang="en-US" sz="2200" b="0" i="0" err="1">
                <a:effectLst/>
                <a:latin typeface="-apple-system"/>
              </a:rPr>
              <a:t>transmitere</a:t>
            </a:r>
            <a:r>
              <a:rPr lang="en-US" sz="2200" b="0" i="0">
                <a:effectLst/>
                <a:latin typeface="-apple-system"/>
              </a:rPr>
              <a:t> </a:t>
            </a:r>
            <a:r>
              <a:rPr lang="en-US" sz="2200" b="0" i="0" err="1">
                <a:effectLst/>
                <a:latin typeface="-apple-system"/>
              </a:rPr>
              <a:t>rezultate</a:t>
            </a:r>
            <a:r>
              <a:rPr lang="en-US" sz="2200" b="0" i="0">
                <a:effectLst/>
                <a:latin typeface="-apple-system"/>
              </a:rPr>
              <a:t> – local </a:t>
            </a:r>
            <a:r>
              <a:rPr lang="en-US" sz="2200" b="0" i="0" err="1">
                <a:effectLst/>
                <a:latin typeface="-apple-system"/>
              </a:rPr>
              <a:t>sau</a:t>
            </a:r>
            <a:r>
              <a:rPr lang="en-US" sz="2200" b="0" i="0">
                <a:effectLst/>
                <a:latin typeface="-apple-system"/>
              </a:rPr>
              <a:t> </a:t>
            </a:r>
            <a:r>
              <a:rPr lang="en-US" sz="2200" b="0" i="0" err="1">
                <a:effectLst/>
                <a:latin typeface="-apple-system"/>
              </a:rPr>
              <a:t>în</a:t>
            </a:r>
            <a:r>
              <a:rPr lang="en-US" sz="2200" b="0" i="0">
                <a:effectLst/>
                <a:latin typeface="-apple-system"/>
              </a:rPr>
              <a:t> cloud</a:t>
            </a:r>
          </a:p>
          <a:p>
            <a:r>
              <a:rPr lang="en-US" sz="2200" b="0" i="0">
                <a:effectLst/>
                <a:latin typeface="-apple-system"/>
              </a:rPr>
              <a:t>Flux de date:</a:t>
            </a:r>
            <a:br>
              <a:rPr lang="en-US" sz="2200"/>
            </a:br>
            <a:r>
              <a:rPr lang="en-US" sz="2200" b="0" i="0">
                <a:effectLst/>
                <a:latin typeface="-apple-system"/>
              </a:rPr>
              <a:t>📸 Imagine → 🧩 </a:t>
            </a:r>
            <a:r>
              <a:rPr lang="en-US" sz="2200" b="0" i="0" err="1">
                <a:effectLst/>
                <a:latin typeface="-apple-system"/>
              </a:rPr>
              <a:t>Preprocesare</a:t>
            </a:r>
            <a:r>
              <a:rPr lang="en-US" sz="2200" b="0" i="0">
                <a:effectLst/>
                <a:latin typeface="-apple-system"/>
              </a:rPr>
              <a:t> → 🧠 CNN → 📊 </a:t>
            </a:r>
            <a:r>
              <a:rPr lang="en-US" sz="2200" b="0" i="0" err="1">
                <a:effectLst/>
                <a:latin typeface="-apple-system"/>
              </a:rPr>
              <a:t>Rezultat</a:t>
            </a:r>
            <a:r>
              <a:rPr lang="en-US" sz="2200" b="0" i="0">
                <a:effectLst/>
                <a:latin typeface="-apple-system"/>
              </a:rPr>
              <a:t> (</a:t>
            </a:r>
            <a:r>
              <a:rPr lang="en-US" sz="2200" b="0" i="0" err="1">
                <a:effectLst/>
                <a:latin typeface="-apple-system"/>
              </a:rPr>
              <a:t>clasă</a:t>
            </a:r>
            <a:r>
              <a:rPr lang="en-US" sz="2200" b="0" i="0">
                <a:effectLst/>
                <a:latin typeface="-apple-system"/>
              </a:rPr>
              <a:t> + </a:t>
            </a:r>
            <a:r>
              <a:rPr lang="en-US" sz="2200" b="0" i="0" err="1">
                <a:effectLst/>
                <a:latin typeface="-apple-system"/>
              </a:rPr>
              <a:t>probabilitate</a:t>
            </a:r>
            <a:r>
              <a:rPr lang="en-US" sz="2200" b="0" i="0">
                <a:effectLst/>
                <a:latin typeface="-apple-system"/>
              </a:rPr>
              <a:t>) → 💾 </a:t>
            </a:r>
            <a:r>
              <a:rPr lang="en-US" sz="2200" b="0" i="0" err="1">
                <a:effectLst/>
                <a:latin typeface="-apple-system"/>
              </a:rPr>
              <a:t>Logare</a:t>
            </a:r>
            <a:endParaRPr lang="en-US" sz="22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691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EA10BE-7395-C244-1064-3DC94513A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Date de intrare/ iesire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448D40-806B-A892-50A3-D82A526D45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7327248"/>
              </p:ext>
            </p:extLst>
          </p:nvPr>
        </p:nvGraphicFramePr>
        <p:xfrm>
          <a:off x="320040" y="2990054"/>
          <a:ext cx="11548873" cy="287319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779227">
                  <a:extLst>
                    <a:ext uri="{9D8B030D-6E8A-4147-A177-3AD203B41FA5}">
                      <a16:colId xmlns:a16="http://schemas.microsoft.com/office/drawing/2014/main" val="1374683421"/>
                    </a:ext>
                  </a:extLst>
                </a:gridCol>
                <a:gridCol w="5203414">
                  <a:extLst>
                    <a:ext uri="{9D8B030D-6E8A-4147-A177-3AD203B41FA5}">
                      <a16:colId xmlns:a16="http://schemas.microsoft.com/office/drawing/2014/main" val="842818975"/>
                    </a:ext>
                  </a:extLst>
                </a:gridCol>
                <a:gridCol w="3566232">
                  <a:extLst>
                    <a:ext uri="{9D8B030D-6E8A-4147-A177-3AD203B41FA5}">
                      <a16:colId xmlns:a16="http://schemas.microsoft.com/office/drawing/2014/main" val="979253927"/>
                    </a:ext>
                  </a:extLst>
                </a:gridCol>
              </a:tblGrid>
              <a:tr h="647034">
                <a:tc>
                  <a:txBody>
                    <a:bodyPr/>
                    <a:lstStyle/>
                    <a:p>
                      <a:pPr algn="ctr"/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Tip date</a:t>
                      </a:r>
                    </a:p>
                  </a:txBody>
                  <a:tcPr marL="95019" marR="135741" marT="27148" marB="20361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cap="none" spc="0" err="1">
                          <a:solidFill>
                            <a:schemeClr val="tx1"/>
                          </a:solidFill>
                        </a:rPr>
                        <a:t>Descriere</a:t>
                      </a:r>
                      <a:endParaRPr lang="en-US" sz="24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95019" marR="135741" marT="27148" marB="20361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Format</a:t>
                      </a:r>
                    </a:p>
                  </a:txBody>
                  <a:tcPr marL="95019" marR="135741" marT="27148" marB="20361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264395"/>
                  </a:ext>
                </a:extLst>
              </a:tr>
              <a:tr h="556540">
                <a:tc>
                  <a:txBody>
                    <a:bodyPr/>
                    <a:lstStyle/>
                    <a:p>
                      <a:r>
                        <a:rPr lang="en-US" sz="1800" cap="none" spc="0" err="1">
                          <a:solidFill>
                            <a:schemeClr val="tx1"/>
                          </a:solidFill>
                        </a:rPr>
                        <a:t>Intrare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5019" marR="135741" marT="27148" marB="203612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Imagine </a:t>
                      </a:r>
                      <a:r>
                        <a:rPr lang="en-US" sz="1800" cap="none" spc="0" err="1">
                          <a:solidFill>
                            <a:schemeClr val="tx1"/>
                          </a:solidFill>
                        </a:rPr>
                        <a:t>dermatoscopica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5019" marR="135741" marT="27148" marB="20361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.jpg / .</a:t>
                      </a:r>
                      <a:r>
                        <a:rPr lang="en-US" sz="1800" cap="none" spc="0" err="1">
                          <a:solidFill>
                            <a:schemeClr val="tx1"/>
                          </a:solidFill>
                        </a:rPr>
                        <a:t>png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5019" marR="135741" marT="27148" marB="20361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807463"/>
                  </a:ext>
                </a:extLst>
              </a:tr>
              <a:tr h="556540">
                <a:tc>
                  <a:txBody>
                    <a:bodyPr/>
                    <a:lstStyle/>
                    <a:p>
                      <a:r>
                        <a:rPr lang="en-US" sz="1800" cap="none" spc="0" err="1">
                          <a:solidFill>
                            <a:schemeClr val="tx1"/>
                          </a:solidFill>
                        </a:rPr>
                        <a:t>Preprocesare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5019" marR="135741" marT="27148" marB="203612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err="1">
                          <a:solidFill>
                            <a:schemeClr val="tx1"/>
                          </a:solidFill>
                        </a:rPr>
                        <a:t>Redimensionare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 128x128, </a:t>
                      </a:r>
                      <a:r>
                        <a:rPr lang="en-US" sz="1800" cap="none" spc="0" err="1">
                          <a:solidFill>
                            <a:schemeClr val="tx1"/>
                          </a:solidFill>
                        </a:rPr>
                        <a:t>normalizare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 [0-1]</a:t>
                      </a:r>
                    </a:p>
                  </a:txBody>
                  <a:tcPr marL="95019" marR="135741" marT="27148" marB="20361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err="1">
                          <a:solidFill>
                            <a:schemeClr val="tx1"/>
                          </a:solidFill>
                        </a:rPr>
                        <a:t>Matrice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 128x128x3</a:t>
                      </a:r>
                    </a:p>
                  </a:txBody>
                  <a:tcPr marL="95019" marR="135741" marT="27148" marB="20361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40230"/>
                  </a:ext>
                </a:extLst>
              </a:tr>
              <a:tr h="556540">
                <a:tc>
                  <a:txBody>
                    <a:bodyPr/>
                    <a:lstStyle/>
                    <a:p>
                      <a:r>
                        <a:rPr lang="en-US" sz="1800" cap="none" spc="0" err="1">
                          <a:solidFill>
                            <a:schemeClr val="tx1"/>
                          </a:solidFill>
                        </a:rPr>
                        <a:t>Iesire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5019" marR="135741" marT="27148" marB="203612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err="1">
                          <a:solidFill>
                            <a:schemeClr val="tx1"/>
                          </a:solidFill>
                        </a:rPr>
                        <a:t>Eticheta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 (benign/malign) + </a:t>
                      </a:r>
                      <a:r>
                        <a:rPr lang="en-US" sz="1800" cap="none" spc="0" err="1">
                          <a:solidFill>
                            <a:schemeClr val="tx1"/>
                          </a:solidFill>
                        </a:rPr>
                        <a:t>probabilitate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5019" marR="135741" marT="27148" marB="20361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CSV / UI text</a:t>
                      </a:r>
                    </a:p>
                  </a:txBody>
                  <a:tcPr marL="95019" marR="135741" marT="27148" marB="20361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673701"/>
                  </a:ext>
                </a:extLst>
              </a:tr>
              <a:tr h="556540">
                <a:tc>
                  <a:txBody>
                    <a:bodyPr/>
                    <a:lstStyle/>
                    <a:p>
                      <a:r>
                        <a:rPr lang="en-US" sz="1800" cap="none" spc="0" err="1">
                          <a:solidFill>
                            <a:schemeClr val="tx1"/>
                          </a:solidFill>
                        </a:rPr>
                        <a:t>Surse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 de date</a:t>
                      </a:r>
                    </a:p>
                  </a:txBody>
                  <a:tcPr marL="95019" marR="135741" marT="27148" marB="203612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Dataset ISIC / HAM10000 (public)</a:t>
                      </a:r>
                    </a:p>
                  </a:txBody>
                  <a:tcPr marL="95019" marR="135741" marT="27148" marB="20361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5019" marR="135741" marT="27148" marB="20361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630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146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25043-D299-8136-BAED-615121B3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Tehnologii utilizate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86B9F-947B-0DAA-79AA-0135AF122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 sz="2000" b="0" i="0" dirty="0">
                <a:effectLst/>
                <a:latin typeface="-apple-system"/>
              </a:rPr>
              <a:t>LabVIEW 2023+ – </a:t>
            </a:r>
            <a:r>
              <a:rPr lang="en-US" sz="2000" b="0" i="0" dirty="0" err="1">
                <a:effectLst/>
                <a:latin typeface="-apple-system"/>
              </a:rPr>
              <a:t>mediu</a:t>
            </a:r>
            <a:r>
              <a:rPr lang="en-US" sz="2000" b="0" i="0" dirty="0">
                <a:effectLst/>
                <a:latin typeface="-apple-system"/>
              </a:rPr>
              <a:t> </a:t>
            </a:r>
            <a:r>
              <a:rPr lang="en-US" sz="2000" b="0" i="0" dirty="0" err="1">
                <a:effectLst/>
                <a:latin typeface="-apple-system"/>
              </a:rPr>
              <a:t>grafic</a:t>
            </a:r>
            <a:r>
              <a:rPr lang="en-US" sz="2000" b="0" i="0" dirty="0">
                <a:effectLst/>
                <a:latin typeface="-apple-system"/>
              </a:rPr>
              <a:t> de </a:t>
            </a:r>
            <a:r>
              <a:rPr lang="en-US" sz="2000" b="0" i="0" dirty="0" err="1">
                <a:effectLst/>
                <a:latin typeface="-apple-system"/>
              </a:rPr>
              <a:t>programare</a:t>
            </a:r>
            <a:endParaRPr lang="en-US" sz="2000" b="0" i="0" dirty="0">
              <a:effectLst/>
              <a:latin typeface="-apple-system"/>
            </a:endParaRPr>
          </a:p>
          <a:p>
            <a:r>
              <a:rPr lang="en-US" sz="2000" dirty="0">
                <a:latin typeface="-apple-system"/>
              </a:rPr>
              <a:t>NI Vision Development Module – </a:t>
            </a:r>
            <a:r>
              <a:rPr lang="en-US" sz="2000" dirty="0" err="1">
                <a:latin typeface="-apple-system"/>
              </a:rPr>
              <a:t>achiziție</a:t>
            </a:r>
            <a:r>
              <a:rPr lang="en-US" sz="2000" dirty="0">
                <a:latin typeface="-apple-system"/>
              </a:rPr>
              <a:t> </a:t>
            </a:r>
            <a:r>
              <a:rPr lang="en-US" sz="2000" dirty="0" err="1">
                <a:latin typeface="-apple-system"/>
              </a:rPr>
              <a:t>și</a:t>
            </a:r>
            <a:r>
              <a:rPr lang="en-US" sz="2000" dirty="0">
                <a:latin typeface="-apple-system"/>
              </a:rPr>
              <a:t> </a:t>
            </a:r>
            <a:r>
              <a:rPr lang="en-US" sz="2000" dirty="0" err="1">
                <a:latin typeface="-apple-system"/>
              </a:rPr>
              <a:t>procesare</a:t>
            </a:r>
            <a:r>
              <a:rPr lang="en-US" sz="2000" dirty="0">
                <a:latin typeface="-apple-system"/>
              </a:rPr>
              <a:t> imagine</a:t>
            </a:r>
          </a:p>
          <a:p>
            <a:r>
              <a:rPr lang="en-US" sz="2000" dirty="0">
                <a:latin typeface="-apple-system"/>
              </a:rPr>
              <a:t>Deep Learning Toolkit for LabVIEW (</a:t>
            </a:r>
            <a:r>
              <a:rPr lang="en-US" sz="2000" dirty="0" err="1">
                <a:latin typeface="-apple-system"/>
              </a:rPr>
              <a:t>DeepLTK</a:t>
            </a:r>
            <a:r>
              <a:rPr lang="en-US" sz="2000" dirty="0">
                <a:latin typeface="-apple-system"/>
              </a:rPr>
              <a:t>) – </a:t>
            </a:r>
            <a:r>
              <a:rPr lang="en-US" sz="2000" dirty="0" err="1">
                <a:latin typeface="-apple-system"/>
              </a:rPr>
              <a:t>definire</a:t>
            </a:r>
            <a:r>
              <a:rPr lang="en-US" sz="2000" dirty="0">
                <a:latin typeface="-apple-system"/>
              </a:rPr>
              <a:t> / </a:t>
            </a:r>
            <a:r>
              <a:rPr lang="en-US" sz="2000" dirty="0" err="1">
                <a:latin typeface="-apple-system"/>
              </a:rPr>
              <a:t>antrenare</a:t>
            </a:r>
            <a:r>
              <a:rPr lang="en-US" sz="2000" dirty="0">
                <a:latin typeface="-apple-system"/>
              </a:rPr>
              <a:t> CNN</a:t>
            </a:r>
          </a:p>
          <a:p>
            <a:r>
              <a:rPr lang="en-US" sz="2000" b="0" i="0" dirty="0">
                <a:effectLst/>
                <a:latin typeface="-apple-system"/>
              </a:rPr>
              <a:t>Python + TensorFlow / </a:t>
            </a:r>
            <a:r>
              <a:rPr lang="en-US" sz="2000" b="0" i="0" dirty="0" err="1">
                <a:effectLst/>
                <a:latin typeface="-apple-system"/>
              </a:rPr>
              <a:t>Keras</a:t>
            </a:r>
            <a:r>
              <a:rPr lang="en-US" sz="2000" b="0" i="0" dirty="0">
                <a:effectLst/>
                <a:latin typeface="-apple-system"/>
              </a:rPr>
              <a:t> – </a:t>
            </a:r>
            <a:r>
              <a:rPr lang="en-US" sz="2000" b="0" i="0" dirty="0" err="1">
                <a:effectLst/>
                <a:latin typeface="-apple-system"/>
              </a:rPr>
              <a:t>pentru</a:t>
            </a:r>
            <a:r>
              <a:rPr lang="en-US" sz="2000" b="0" i="0" dirty="0">
                <a:effectLst/>
                <a:latin typeface="-apple-system"/>
              </a:rPr>
              <a:t> export model ONNX</a:t>
            </a:r>
            <a:endParaRPr lang="en-US" sz="2000" dirty="0"/>
          </a:p>
          <a:p>
            <a:r>
              <a:rPr lang="en-US" sz="2000" b="0" i="0" dirty="0">
                <a:effectLst/>
                <a:latin typeface="-apple-system"/>
              </a:rPr>
              <a:t>Dataset: ISIC 2019 / HAM10000</a:t>
            </a:r>
          </a:p>
          <a:p>
            <a:r>
              <a:rPr lang="en-US" sz="2000" b="0" i="0" dirty="0">
                <a:effectLst/>
                <a:latin typeface="-apple-system"/>
              </a:rPr>
              <a:t>Hardware: </a:t>
            </a:r>
            <a:r>
              <a:rPr lang="en-US" sz="2000" b="0" i="0" dirty="0" err="1">
                <a:effectLst/>
                <a:latin typeface="-apple-system"/>
              </a:rPr>
              <a:t>Cameră</a:t>
            </a:r>
            <a:r>
              <a:rPr lang="en-US" sz="2000" b="0" i="0" dirty="0">
                <a:effectLst/>
                <a:latin typeface="-apple-system"/>
              </a:rPr>
              <a:t> </a:t>
            </a:r>
            <a:r>
              <a:rPr lang="en-US" sz="2000" b="0" i="0" dirty="0" err="1">
                <a:effectLst/>
                <a:latin typeface="-apple-system"/>
              </a:rPr>
              <a:t>dermatoscopică</a:t>
            </a:r>
            <a:r>
              <a:rPr lang="en-US" sz="2000" b="0" i="0" dirty="0">
                <a:effectLst/>
                <a:latin typeface="-apple-system"/>
              </a:rPr>
              <a:t> </a:t>
            </a:r>
            <a:r>
              <a:rPr lang="en-US" sz="2000" b="0" i="0" dirty="0" err="1">
                <a:effectLst/>
                <a:latin typeface="-apple-system"/>
              </a:rPr>
              <a:t>sau</a:t>
            </a:r>
            <a:r>
              <a:rPr lang="en-US" sz="2000" b="0" i="0" dirty="0">
                <a:effectLst/>
                <a:latin typeface="-apple-system"/>
              </a:rPr>
              <a:t> </a:t>
            </a:r>
            <a:r>
              <a:rPr lang="en-US" sz="2000" b="0" i="0" dirty="0" err="1">
                <a:effectLst/>
                <a:latin typeface="-apple-system"/>
              </a:rPr>
              <a:t>fișiere</a:t>
            </a:r>
            <a:r>
              <a:rPr lang="en-US" sz="2000" b="0" i="0" dirty="0">
                <a:effectLst/>
                <a:latin typeface="-apple-system"/>
              </a:rPr>
              <a:t> imagine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71080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9AD1B-EDAA-258F-B6A5-78B4B46FF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Utilizatori si permisiuni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270CDA-20D2-DE4B-0AD8-2D338EA655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8134531"/>
              </p:ext>
            </p:extLst>
          </p:nvPr>
        </p:nvGraphicFramePr>
        <p:xfrm>
          <a:off x="320040" y="2752552"/>
          <a:ext cx="11548874" cy="334819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4832503">
                  <a:extLst>
                    <a:ext uri="{9D8B030D-6E8A-4147-A177-3AD203B41FA5}">
                      <a16:colId xmlns:a16="http://schemas.microsoft.com/office/drawing/2014/main" val="1376810139"/>
                    </a:ext>
                  </a:extLst>
                </a:gridCol>
                <a:gridCol w="3773464">
                  <a:extLst>
                    <a:ext uri="{9D8B030D-6E8A-4147-A177-3AD203B41FA5}">
                      <a16:colId xmlns:a16="http://schemas.microsoft.com/office/drawing/2014/main" val="3404505782"/>
                    </a:ext>
                  </a:extLst>
                </a:gridCol>
                <a:gridCol w="2942907">
                  <a:extLst>
                    <a:ext uri="{9D8B030D-6E8A-4147-A177-3AD203B41FA5}">
                      <a16:colId xmlns:a16="http://schemas.microsoft.com/office/drawing/2014/main" val="404183585"/>
                    </a:ext>
                  </a:extLst>
                </a:gridCol>
              </a:tblGrid>
              <a:tr h="745401">
                <a:tc>
                  <a:txBody>
                    <a:bodyPr/>
                    <a:lstStyle/>
                    <a:p>
                      <a:pPr algn="ctr"/>
                      <a:r>
                        <a:rPr lang="en-US" sz="3200" b="1" cap="none" spc="30">
                          <a:solidFill>
                            <a:schemeClr val="tx1"/>
                          </a:solidFill>
                        </a:rPr>
                        <a:t>Rol</a:t>
                      </a:r>
                    </a:p>
                  </a:txBody>
                  <a:tcPr marL="0" marR="18330" marT="91648" marB="9164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cap="none" spc="30" err="1">
                          <a:solidFill>
                            <a:schemeClr val="tx1"/>
                          </a:solidFill>
                        </a:rPr>
                        <a:t>Descriere</a:t>
                      </a:r>
                      <a:endParaRPr lang="en-US" sz="3200" b="1" cap="none" spc="30">
                        <a:solidFill>
                          <a:schemeClr val="tx1"/>
                        </a:solidFill>
                      </a:endParaRPr>
                    </a:p>
                  </a:txBody>
                  <a:tcPr marL="0" marR="18330" marT="91648" marB="9164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cap="none" spc="30" err="1">
                          <a:solidFill>
                            <a:schemeClr val="tx1"/>
                          </a:solidFill>
                        </a:rPr>
                        <a:t>Permisiuni</a:t>
                      </a:r>
                      <a:endParaRPr lang="en-US" sz="3200" b="1" cap="none" spc="30">
                        <a:solidFill>
                          <a:schemeClr val="tx1"/>
                        </a:solidFill>
                      </a:endParaRPr>
                    </a:p>
                  </a:txBody>
                  <a:tcPr marL="0" marR="18330" marT="91648" marB="9164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412916"/>
                  </a:ext>
                </a:extLst>
              </a:tr>
              <a:tr h="989795"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Administrator (medic </a:t>
                      </a:r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coordonator</a:t>
                      </a: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0" marR="183295" marT="91648" marB="9164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2400" cap="none" spc="0">
                          <a:solidFill>
                            <a:schemeClr val="tx1"/>
                          </a:solidFill>
                        </a:rPr>
                        <a:t>Poate antrena modelul și gestiona datele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83295" marT="91648" marB="9164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CRUD </a:t>
                      </a:r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complet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83295" marT="91648" marB="9164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758327"/>
                  </a:ext>
                </a:extLst>
              </a:tr>
              <a:tr h="989795">
                <a:tc>
                  <a:txBody>
                    <a:bodyPr/>
                    <a:lstStyle/>
                    <a:p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Utilizator</a:t>
                      </a: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 standard (</a:t>
                      </a:r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dermatolog</a:t>
                      </a: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 / student)</a:t>
                      </a:r>
                    </a:p>
                  </a:txBody>
                  <a:tcPr marL="91648" marR="183295" marT="91648" marB="9164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Poate</a:t>
                      </a: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încărca</a:t>
                      </a: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imagini</a:t>
                      </a: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și</a:t>
                      </a: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vizualiza</a:t>
                      </a: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rezultate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1648" marR="183295" marT="91648" marB="9164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Read / classify</a:t>
                      </a:r>
                    </a:p>
                  </a:txBody>
                  <a:tcPr marL="91648" marR="183295" marT="91648" marB="9164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286582"/>
                  </a:ext>
                </a:extLst>
              </a:tr>
              <a:tr h="623204">
                <a:tc>
                  <a:txBody>
                    <a:bodyPr/>
                    <a:lstStyle/>
                    <a:p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Pacient</a:t>
                      </a: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 (indirect)</a:t>
                      </a:r>
                    </a:p>
                  </a:txBody>
                  <a:tcPr marL="0" marR="183295" marT="91648" marB="9164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Primește</a:t>
                      </a: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raport</a:t>
                      </a: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rezultat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83295" marT="91648" marB="9164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Vizualizare</a:t>
                      </a:r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cap="none" spc="0" err="1">
                          <a:solidFill>
                            <a:schemeClr val="tx1"/>
                          </a:solidFill>
                        </a:rPr>
                        <a:t>limitată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83295" marT="91648" marB="9164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221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255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F25C8A-62E1-FA45-15D6-7E2F20F2C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/>
              <a:t>Rezultate asteptate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0462CA5-C0AE-5F70-41E6-F15563F26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US" b="0" i="0" err="1">
                <a:effectLst/>
                <a:latin typeface="-apple-system"/>
              </a:rPr>
              <a:t>Acuratețe</a:t>
            </a:r>
            <a:r>
              <a:rPr lang="en-US" b="0" i="0">
                <a:effectLst/>
                <a:latin typeface="-apple-system"/>
              </a:rPr>
              <a:t> &gt; 90% pe </a:t>
            </a:r>
            <a:r>
              <a:rPr lang="en-US" b="0" i="0" err="1">
                <a:effectLst/>
                <a:latin typeface="-apple-system"/>
              </a:rPr>
              <a:t>setul</a:t>
            </a:r>
            <a:r>
              <a:rPr lang="en-US" b="0" i="0">
                <a:effectLst/>
                <a:latin typeface="-apple-system"/>
              </a:rPr>
              <a:t> de test ISIC.</a:t>
            </a:r>
          </a:p>
          <a:p>
            <a:r>
              <a:rPr lang="en-US" b="0" i="0" err="1">
                <a:effectLst/>
                <a:latin typeface="-apple-system"/>
              </a:rPr>
              <a:t>Timp</a:t>
            </a:r>
            <a:r>
              <a:rPr lang="en-US" b="0" i="0">
                <a:effectLst/>
                <a:latin typeface="-apple-system"/>
              </a:rPr>
              <a:t> de </a:t>
            </a:r>
            <a:r>
              <a:rPr lang="en-US" b="0" i="0" err="1">
                <a:effectLst/>
                <a:latin typeface="-apple-system"/>
              </a:rPr>
              <a:t>inferență</a:t>
            </a:r>
            <a:r>
              <a:rPr lang="en-US" b="0" i="0">
                <a:effectLst/>
                <a:latin typeface="-apple-system"/>
              </a:rPr>
              <a:t> &lt; 1 </a:t>
            </a:r>
            <a:r>
              <a:rPr lang="en-US" b="0" i="0" err="1">
                <a:effectLst/>
                <a:latin typeface="-apple-system"/>
              </a:rPr>
              <a:t>secundă</a:t>
            </a:r>
            <a:r>
              <a:rPr lang="en-US" b="0" i="0">
                <a:effectLst/>
                <a:latin typeface="-apple-system"/>
              </a:rPr>
              <a:t> / imagine.</a:t>
            </a:r>
          </a:p>
          <a:p>
            <a:r>
              <a:rPr lang="en-US" b="0" i="0" err="1">
                <a:effectLst/>
                <a:latin typeface="-apple-system"/>
              </a:rPr>
              <a:t>Interfață</a:t>
            </a:r>
            <a:r>
              <a:rPr lang="en-US" b="0" i="0">
                <a:effectLst/>
                <a:latin typeface="-apple-system"/>
              </a:rPr>
              <a:t> </a:t>
            </a:r>
            <a:r>
              <a:rPr lang="en-US" b="0" i="0" err="1">
                <a:effectLst/>
                <a:latin typeface="-apple-system"/>
              </a:rPr>
              <a:t>simplă</a:t>
            </a:r>
            <a:r>
              <a:rPr lang="en-US" b="0" i="0">
                <a:effectLst/>
                <a:latin typeface="-apple-system"/>
              </a:rPr>
              <a:t> </a:t>
            </a:r>
            <a:r>
              <a:rPr lang="en-US" b="0" i="0" err="1">
                <a:effectLst/>
                <a:latin typeface="-apple-system"/>
              </a:rPr>
              <a:t>pentru</a:t>
            </a:r>
            <a:r>
              <a:rPr lang="en-US" b="0" i="0">
                <a:effectLst/>
                <a:latin typeface="-apple-system"/>
              </a:rPr>
              <a:t> </a:t>
            </a:r>
            <a:r>
              <a:rPr lang="en-US" b="0" i="0" err="1">
                <a:effectLst/>
                <a:latin typeface="-apple-system"/>
              </a:rPr>
              <a:t>medici</a:t>
            </a:r>
            <a:r>
              <a:rPr lang="en-US" b="0" i="0">
                <a:effectLst/>
                <a:latin typeface="-apple-system"/>
              </a:rPr>
              <a:t>, </a:t>
            </a:r>
            <a:r>
              <a:rPr lang="en-US" b="0" i="0" err="1">
                <a:effectLst/>
                <a:latin typeface="-apple-system"/>
              </a:rPr>
              <a:t>rulabilă</a:t>
            </a:r>
            <a:r>
              <a:rPr lang="en-US" b="0" i="0">
                <a:effectLst/>
                <a:latin typeface="-apple-system"/>
              </a:rPr>
              <a:t> local.</a:t>
            </a:r>
          </a:p>
          <a:p>
            <a:r>
              <a:rPr lang="en-US" b="0" i="0">
                <a:effectLst/>
                <a:latin typeface="-apple-system"/>
              </a:rPr>
              <a:t>Posibilitate de </a:t>
            </a:r>
            <a:r>
              <a:rPr lang="en-US" b="0" i="0" err="1">
                <a:effectLst/>
                <a:latin typeface="-apple-system"/>
              </a:rPr>
              <a:t>extindere</a:t>
            </a:r>
            <a:r>
              <a:rPr lang="en-US" b="0" i="0">
                <a:effectLst/>
                <a:latin typeface="-apple-system"/>
              </a:rPr>
              <a:t> la </a:t>
            </a:r>
            <a:r>
              <a:rPr lang="en-US" b="0" i="0" err="1">
                <a:effectLst/>
                <a:latin typeface="-apple-system"/>
              </a:rPr>
              <a:t>clasificare</a:t>
            </a:r>
            <a:r>
              <a:rPr lang="en-US" b="0" i="0">
                <a:effectLst/>
                <a:latin typeface="-apple-system"/>
              </a:rPr>
              <a:t> multi-</a:t>
            </a:r>
            <a:r>
              <a:rPr lang="en-US" b="0" i="0" err="1">
                <a:effectLst/>
                <a:latin typeface="-apple-system"/>
              </a:rPr>
              <a:t>clasă</a:t>
            </a:r>
            <a:r>
              <a:rPr lang="en-US" b="0" i="0">
                <a:effectLst/>
                <a:latin typeface="-apple-system"/>
              </a:rPr>
              <a:t> (7 </a:t>
            </a:r>
            <a:r>
              <a:rPr lang="en-US" b="0" i="0" err="1">
                <a:effectLst/>
                <a:latin typeface="-apple-system"/>
              </a:rPr>
              <a:t>tipuri</a:t>
            </a:r>
            <a:r>
              <a:rPr lang="en-US" b="0" i="0">
                <a:effectLst/>
                <a:latin typeface="-apple-system"/>
              </a:rPr>
              <a:t> de </a:t>
            </a:r>
            <a:r>
              <a:rPr lang="en-US" b="0" i="0" err="1">
                <a:effectLst/>
                <a:latin typeface="-apple-system"/>
              </a:rPr>
              <a:t>leziuni</a:t>
            </a:r>
            <a:r>
              <a:rPr lang="en-US" b="0" i="0">
                <a:effectLst/>
                <a:latin typeface="-apple-system"/>
              </a:rPr>
              <a:t>).</a:t>
            </a:r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70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4EA384-CC1B-0FEB-3C04-F49200479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en-US" sz="4000"/>
              <a:t>Concluzii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F06029-C777-E547-0CC0-DCF280AF8C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9510922"/>
              </p:ext>
            </p:extLst>
          </p:nvPr>
        </p:nvGraphicFramePr>
        <p:xfrm>
          <a:off x="1115568" y="1673352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9795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30962C-5C7D-68E6-1803-9192A550C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Bibliografie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54271-C236-A0C9-8E81-749820D64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US" sz="2200" b="0" i="0" err="1">
                <a:effectLst/>
                <a:latin typeface="-apple-system"/>
              </a:rPr>
              <a:t>Esteva</a:t>
            </a:r>
            <a:r>
              <a:rPr lang="en-US" sz="2200" b="0" i="0">
                <a:effectLst/>
                <a:latin typeface="-apple-system"/>
              </a:rPr>
              <a:t>, A. et al., Dermatologist-level classification of skin cancer with deep neural networks., Nature, 2017.</a:t>
            </a:r>
          </a:p>
          <a:p>
            <a:r>
              <a:rPr lang="en-US" sz="2200" b="0" i="0" err="1">
                <a:effectLst/>
                <a:latin typeface="-apple-system"/>
              </a:rPr>
              <a:t>Kreouzi</a:t>
            </a:r>
            <a:r>
              <a:rPr lang="en-US" sz="2200" b="0" i="0">
                <a:effectLst/>
                <a:latin typeface="-apple-system"/>
              </a:rPr>
              <a:t>, M. et al., Deep Learning for Melanoma Detection., Cancers (MDPI), 2024.</a:t>
            </a:r>
          </a:p>
          <a:p>
            <a:r>
              <a:rPr lang="en-US" sz="2200" b="0" i="0">
                <a:effectLst/>
                <a:latin typeface="-apple-system"/>
              </a:rPr>
              <a:t>Gutman, D. et al., Skin Lesion Analysis toward Melanoma Detection: A Challenge at ISBI 2016., </a:t>
            </a:r>
            <a:r>
              <a:rPr lang="en-US" sz="2200" b="0" i="0" err="1">
                <a:effectLst/>
                <a:latin typeface="-apple-system"/>
              </a:rPr>
              <a:t>arXiv</a:t>
            </a:r>
            <a:r>
              <a:rPr lang="en-US" sz="2200" b="0" i="0">
                <a:effectLst/>
                <a:latin typeface="-apple-system"/>
              </a:rPr>
              <a:t>, 2016.</a:t>
            </a:r>
          </a:p>
          <a:p>
            <a:r>
              <a:rPr lang="en-US" sz="2200" b="0" i="0">
                <a:effectLst/>
                <a:latin typeface="-apple-system"/>
              </a:rPr>
              <a:t>Cassidy, B. et al., Analysis of the ISIC image datasets., Medical Image Analysis, 2022.</a:t>
            </a:r>
          </a:p>
          <a:p>
            <a:r>
              <a:rPr lang="en-US" sz="2200" b="0" i="0">
                <a:effectLst/>
                <a:latin typeface="-apple-system"/>
              </a:rPr>
              <a:t>ISIC Archive – </a:t>
            </a:r>
            <a:r>
              <a:rPr lang="en-US" sz="2200" b="0" i="0" u="none" strike="noStrike">
                <a:effectLst/>
                <a:latin typeface="-apple-system"/>
                <a:hlinkClick r:id="rId2"/>
              </a:rPr>
              <a:t>https://challenge.isic-archive.com/data/</a:t>
            </a:r>
            <a:endParaRPr lang="en-US" sz="22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694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D7CD89D570B24C97A1C407029819FB" ma:contentTypeVersion="5" ma:contentTypeDescription="Create a new document." ma:contentTypeScope="" ma:versionID="eb59384752b3b6cea2b60088a8cc4ca1">
  <xsd:schema xmlns:xsd="http://www.w3.org/2001/XMLSchema" xmlns:xs="http://www.w3.org/2001/XMLSchema" xmlns:p="http://schemas.microsoft.com/office/2006/metadata/properties" xmlns:ns3="ab3bf863-a499-485c-b22b-18ab9ca9b64f" targetNamespace="http://schemas.microsoft.com/office/2006/metadata/properties" ma:root="true" ma:fieldsID="bc7cc379349d9b402ee0c6ab2df761a3" ns3:_="">
    <xsd:import namespace="ab3bf863-a499-485c-b22b-18ab9ca9b64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3bf863-a499-485c-b22b-18ab9ca9b6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A29533-F0B5-4EEC-AFD4-FF2F74EE1BC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1DCD52-1B5B-454A-8ADE-458DC770FC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3bf863-a499-485c-b22b-18ab9ca9b6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1DBA43-AA01-43F3-A8B6-3A58A79C6339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infopath/2007/PartnerControls"/>
    <ds:schemaRef ds:uri="ab3bf863-a499-485c-b22b-18ab9ca9b64f"/>
    <ds:schemaRef ds:uri="http://purl.org/dc/elements/1.1/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950</Words>
  <Application>Microsoft Office PowerPoint</Application>
  <PresentationFormat>Widescreen</PresentationFormat>
  <Paragraphs>87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-apple-system</vt:lpstr>
      <vt:lpstr>Aptos</vt:lpstr>
      <vt:lpstr>Aptos Display</vt:lpstr>
      <vt:lpstr>Arial</vt:lpstr>
      <vt:lpstr>Calibri</vt:lpstr>
      <vt:lpstr>Office Theme</vt:lpstr>
      <vt:lpstr>Detectarea melanomului din imagini dermatologice utilizand Retele Neuronale Convolutionale</vt:lpstr>
      <vt:lpstr>Descrierea necesitatii</vt:lpstr>
      <vt:lpstr>Stadiul actual si tendinte</vt:lpstr>
      <vt:lpstr>Beneficii masurabile ale sistemului AI</vt:lpstr>
      <vt:lpstr>Surse relevante</vt:lpstr>
      <vt:lpstr>Descrierea sistemului cu inteligenta artificiala</vt:lpstr>
      <vt:lpstr>Arhitectura sistemului </vt:lpstr>
      <vt:lpstr>Date de intrare/ iesire</vt:lpstr>
      <vt:lpstr>Tehnologii utilizate</vt:lpstr>
      <vt:lpstr>Utilizatori si permisiuni</vt:lpstr>
      <vt:lpstr>Rezultate asteptate</vt:lpstr>
      <vt:lpstr>Concluzii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Claudia-Ştefania DUMITRU (143564)</dc:creator>
  <cp:lastModifiedBy>Claudia-Ştefania DUMITRU (143564)</cp:lastModifiedBy>
  <cp:revision>3</cp:revision>
  <dcterms:created xsi:type="dcterms:W3CDTF">2025-11-11T03:40:03Z</dcterms:created>
  <dcterms:modified xsi:type="dcterms:W3CDTF">2025-11-18T03:46:48Z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0x0101001CD7CD89D570B24C97A1C407029819FB</vt:lpwstr>
  </property>
</Properties>
</file>